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2E265-1013-414F-A4C3-B9909B64779B}" v="8" dt="2026-08-14T14:02:1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2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09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1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56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86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45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6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46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7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28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869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9278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37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880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969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927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698674B-B690-4E47-95CC-1AD41CDEABC2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B659D-8442-418F-9668-3062BFADE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13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D922893-5777-19F9-66C5-8467AE92B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08" y="3429000"/>
            <a:ext cx="10993549" cy="147501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Phishing awareness training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C5F7C0B-BC86-2A91-D23C-034357620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208" y="1274164"/>
            <a:ext cx="11156565" cy="997215"/>
          </a:xfrm>
        </p:spPr>
        <p:txBody>
          <a:bodyPr>
            <a:normAutofit/>
          </a:bodyPr>
          <a:lstStyle/>
          <a:p>
            <a:r>
              <a:rPr lang="en-IN" sz="1900" dirty="0"/>
              <a:t>How to recognize and avoid phishing attacks</a:t>
            </a:r>
          </a:p>
          <a:p>
            <a:r>
              <a:rPr lang="en-IN" b="1" dirty="0"/>
              <a:t>Vaishnavi sargar </a:t>
            </a:r>
            <a:r>
              <a:rPr lang="en-IN" dirty="0"/>
              <a:t>| </a:t>
            </a:r>
            <a:r>
              <a:rPr lang="en-IN" b="1" dirty="0" err="1"/>
              <a:t>INTERnSHIP</a:t>
            </a:r>
            <a:r>
              <a:rPr lang="en-IN" b="1" dirty="0"/>
              <a:t> : Code alpha-cyber security |</a:t>
            </a:r>
          </a:p>
        </p:txBody>
      </p:sp>
    </p:spTree>
    <p:extLst>
      <p:ext uri="{BB962C8B-B14F-4D97-AF65-F5344CB8AC3E}">
        <p14:creationId xmlns:p14="http://schemas.microsoft.com/office/powerpoint/2010/main" val="213956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712D-9F5D-D9C9-2775-E2BE938A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688D-B6C1-6C2E-8D34-FE9D632D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9" y="1589848"/>
            <a:ext cx="11029615" cy="3678303"/>
          </a:xfrm>
        </p:spPr>
        <p:txBody>
          <a:bodyPr/>
          <a:lstStyle/>
          <a:p>
            <a:r>
              <a:rPr lang="en-US" dirty="0"/>
              <a:t>Phishing is when attackers pretend to be someone you trust (bank, company, friend) to steal your passwords, money, or personal data. </a:t>
            </a:r>
          </a:p>
          <a:p>
            <a:r>
              <a:rPr lang="en-US" dirty="0"/>
              <a:t>They use fake emails, messages, or websites that look real. </a:t>
            </a:r>
          </a:p>
          <a:p>
            <a:r>
              <a:rPr lang="en-US" dirty="0"/>
              <a:t>Most attacks target people, not just systems, so awareness is the first line of defense.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98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6D1E6-AC2B-0AD8-6501-7BD2A733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05" y="315426"/>
            <a:ext cx="9404723" cy="1400530"/>
          </a:xfrm>
        </p:spPr>
        <p:txBody>
          <a:bodyPr/>
          <a:lstStyle/>
          <a:p>
            <a:r>
              <a:rPr lang="en-IN" b="1" dirty="0"/>
              <a:t>Types of Phishing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4E9C1-F3BF-BBAC-E713-55D34088F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05" y="1715956"/>
            <a:ext cx="11029615" cy="3678303"/>
          </a:xfrm>
        </p:spPr>
        <p:txBody>
          <a:bodyPr/>
          <a:lstStyle/>
          <a:p>
            <a:r>
              <a:rPr lang="en-US" dirty="0"/>
              <a:t>Email Phishing – Fake emails asking you to click a link or download an attachment. </a:t>
            </a:r>
          </a:p>
          <a:p>
            <a:r>
              <a:rPr lang="en-US" dirty="0"/>
              <a:t>Smishing – Phishing via SMS (e.g., “Your parcel is delayed, pay ₹20 to reschedule”).</a:t>
            </a:r>
          </a:p>
          <a:p>
            <a:r>
              <a:rPr lang="en-US" dirty="0"/>
              <a:t> Website Spoofing – Fake login pages that look like real banks or services. </a:t>
            </a:r>
          </a:p>
          <a:p>
            <a:r>
              <a:rPr lang="en-US" dirty="0"/>
              <a:t>Spear Phishing – Targeted attacks on specific people or companies using personal information. </a:t>
            </a:r>
          </a:p>
          <a:p>
            <a:r>
              <a:rPr lang="en-US" dirty="0"/>
              <a:t>Voice Phishing (Vishing) – Calls pretending to be bank/customer support asking for OTP or card details.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16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7902-D7D6-5196-44B3-3D203237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Social Engineering Tactics Used by Attackers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0F21-F6C2-4976-2C2C-192A6123D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Urgency &amp; Fear – “Your account will be closed in 24 hours”, “Unauthorized login detected”.</a:t>
            </a:r>
          </a:p>
          <a:p>
            <a:r>
              <a:rPr lang="en-US" dirty="0"/>
              <a:t>Authority Impersonation – Pretending to be bank, IT team, police, or senior management.</a:t>
            </a:r>
          </a:p>
          <a:p>
            <a:r>
              <a:rPr lang="en-US" dirty="0"/>
              <a:t>Too Good to Be True – “You won a prize”, “Special offer just for you”. </a:t>
            </a:r>
          </a:p>
          <a:p>
            <a:r>
              <a:rPr lang="en-US" dirty="0"/>
              <a:t>Familiarity &amp; Trust – Using names, logos, and language that look like real companies. </a:t>
            </a:r>
          </a:p>
          <a:p>
            <a:r>
              <a:rPr lang="en-US" dirty="0"/>
              <a:t>Curiosity – “See who viewed your profile”, “Important document attached.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20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DD17-6B8B-6199-5221-F8A458C3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6" y="702156"/>
            <a:ext cx="9404723" cy="140053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How to Recognize Phishing Emails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0897B-D3DE-BFC7-E80D-771AD8160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396" y="1813811"/>
            <a:ext cx="11185099" cy="434203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8000" b="1" dirty="0"/>
              <a:t>Red flag in phishing emails</a:t>
            </a:r>
          </a:p>
          <a:p>
            <a:r>
              <a:rPr lang="en-US" sz="8000" dirty="0"/>
              <a:t>Suspicious sender address</a:t>
            </a:r>
          </a:p>
          <a:p>
            <a:pPr marL="0" indent="0">
              <a:buNone/>
            </a:pPr>
            <a:r>
              <a:rPr lang="en-US" sz="8000" dirty="0"/>
              <a:t>Example: support@paypa1.com instead of paypal.com.</a:t>
            </a:r>
          </a:p>
          <a:p>
            <a:r>
              <a:rPr lang="en-US" sz="8000" dirty="0"/>
              <a:t> Urgent or threatening language</a:t>
            </a:r>
          </a:p>
          <a:p>
            <a:pPr marL="0" indent="0">
              <a:buNone/>
            </a:pPr>
            <a:r>
              <a:rPr lang="en-US" sz="8000" dirty="0"/>
              <a:t>“Immediate action required”, “Your account will be suspended”.</a:t>
            </a:r>
          </a:p>
          <a:p>
            <a:r>
              <a:rPr lang="en-US" sz="8000" dirty="0"/>
              <a:t> Strange or mismatched links </a:t>
            </a:r>
          </a:p>
          <a:p>
            <a:pPr marL="0" indent="0">
              <a:buNone/>
            </a:pPr>
            <a:r>
              <a:rPr lang="en-US" sz="8000" dirty="0"/>
              <a:t>Hover over the link to see the real URL; it doesn’t match the claimed company. </a:t>
            </a:r>
          </a:p>
          <a:p>
            <a:r>
              <a:rPr lang="en-US" sz="8000" dirty="0"/>
              <a:t>Unexpected attachments</a:t>
            </a:r>
          </a:p>
          <a:p>
            <a:pPr marL="0" indent="0">
              <a:buNone/>
            </a:pPr>
            <a:r>
              <a:rPr lang="en-US" sz="8000" dirty="0"/>
              <a:t>Invoices, “documents”, ZIP files from unknown senders.</a:t>
            </a:r>
          </a:p>
          <a:p>
            <a:endParaRPr lang="en-US" sz="8000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9021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F2A5-505F-1108-4377-9D6886A5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Recognize Phishing Emails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64FAD-BA2A-399F-2AB5-23A00336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76" y="1618938"/>
            <a:ext cx="9555178" cy="4629461"/>
          </a:xfrm>
        </p:spPr>
        <p:txBody>
          <a:bodyPr/>
          <a:lstStyle/>
          <a:p>
            <a:r>
              <a:rPr lang="en-US" b="1" dirty="0"/>
              <a:t> Spelling/grammar mistakes &amp; generic greetings</a:t>
            </a:r>
          </a:p>
          <a:p>
            <a:pPr marL="0" indent="0">
              <a:buNone/>
            </a:pPr>
            <a:r>
              <a:rPr lang="en-US" dirty="0"/>
              <a:t>“Dear Customer”, “Dear User”, obvious types.</a:t>
            </a:r>
          </a:p>
          <a:p>
            <a:r>
              <a:rPr lang="en-US" dirty="0"/>
              <a:t> </a:t>
            </a:r>
            <a:r>
              <a:rPr lang="en-US" b="1" dirty="0"/>
              <a:t>Requests for sensitive information </a:t>
            </a:r>
          </a:p>
          <a:p>
            <a:pPr marL="0" indent="0">
              <a:buNone/>
            </a:pPr>
            <a:r>
              <a:rPr lang="en-US" dirty="0"/>
              <a:t>Asking for passwords, OTPs, card numbers via email.</a:t>
            </a:r>
          </a:p>
          <a:p>
            <a:r>
              <a:rPr lang="en-US" b="1" dirty="0"/>
              <a:t> Suspicious email headers</a:t>
            </a:r>
          </a:p>
          <a:p>
            <a:pPr marL="0" indent="0">
              <a:buNone/>
            </a:pPr>
            <a:r>
              <a:rPr lang="en-US" dirty="0"/>
              <a:t>“From” address doesn’t match the domain shown in the email body.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0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0E22-9E35-018D-4F9C-D1DBF9FC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Recognize Fake Websites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891D-5E1E-304F-DE81-D27C61EF4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28" y="1326450"/>
            <a:ext cx="11029615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“Spotting Fake Login Pages &amp; Websites”</a:t>
            </a:r>
          </a:p>
          <a:p>
            <a:pPr marL="0" indent="0">
              <a:buNone/>
            </a:pPr>
            <a:r>
              <a:rPr lang="en-IN" dirty="0"/>
              <a:t>Key points to include:</a:t>
            </a:r>
          </a:p>
          <a:p>
            <a:r>
              <a:rPr lang="en-IN" b="1" dirty="0"/>
              <a:t>Check the URL carefully</a:t>
            </a:r>
          </a:p>
          <a:p>
            <a:pPr marL="0" indent="0">
              <a:buNone/>
            </a:pPr>
            <a:r>
              <a:rPr lang="en-IN" dirty="0"/>
              <a:t>Look for small changes: paypa1.com, netfllix.com, amaz0n.com. </a:t>
            </a:r>
          </a:p>
          <a:p>
            <a:r>
              <a:rPr lang="en-IN" b="1" dirty="0"/>
              <a:t>HTTPS &amp; padlock icon</a:t>
            </a:r>
          </a:p>
          <a:p>
            <a:pPr marL="0" indent="0">
              <a:buNone/>
            </a:pPr>
            <a:r>
              <a:rPr lang="en-IN" dirty="0"/>
              <a:t>Many fake sites still use HTTPS, so don’t rely only on this, but missing HTTPS is a bad sign. </a:t>
            </a:r>
          </a:p>
          <a:p>
            <a:r>
              <a:rPr lang="en-IN" b="1" dirty="0"/>
              <a:t>Poor design &amp; broken elements</a:t>
            </a:r>
          </a:p>
          <a:p>
            <a:pPr marL="0" indent="0">
              <a:buNone/>
            </a:pPr>
            <a:r>
              <a:rPr lang="en-IN" dirty="0"/>
              <a:t>Low‑quality logos, misaligned text, broken links. </a:t>
            </a:r>
          </a:p>
          <a:p>
            <a:r>
              <a:rPr lang="en-IN" b="1" dirty="0"/>
              <a:t>Unexpected login prompts</a:t>
            </a:r>
          </a:p>
          <a:p>
            <a:pPr marL="0" indent="0">
              <a:buNone/>
            </a:pPr>
            <a:r>
              <a:rPr lang="en-IN" dirty="0"/>
              <a:t>You clicked a link from email/SMS and suddenly see a login page asking for credentials. </a:t>
            </a:r>
          </a:p>
          <a:p>
            <a:r>
              <a:rPr lang="en-IN" b="1" dirty="0"/>
              <a:t>No official contact info or strange domain</a:t>
            </a:r>
          </a:p>
          <a:p>
            <a:pPr marL="0" indent="0">
              <a:buNone/>
            </a:pPr>
            <a:r>
              <a:rPr lang="en-IN" dirty="0"/>
              <a:t>No “About Us”, no proper contact details, or a very weird domain name.</a:t>
            </a:r>
          </a:p>
        </p:txBody>
      </p:sp>
    </p:spTree>
    <p:extLst>
      <p:ext uri="{BB962C8B-B14F-4D97-AF65-F5344CB8AC3E}">
        <p14:creationId xmlns:p14="http://schemas.microsoft.com/office/powerpoint/2010/main" val="1671612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FBC4-E67D-787B-A473-BAC1FBC0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Real-World Phishing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D3FC-256A-B408-B13F-24873B0DF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38" y="1333390"/>
            <a:ext cx="10731424" cy="507189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Scenario</a:t>
            </a:r>
            <a:r>
              <a:rPr lang="en-IN" dirty="0"/>
              <a:t>: Fake Bank Alert You receive a message:</a:t>
            </a:r>
          </a:p>
          <a:p>
            <a:pPr marL="0" indent="0">
              <a:buNone/>
            </a:pPr>
            <a:r>
              <a:rPr lang="en-IN" dirty="0"/>
              <a:t>"Your account requires immediate verification. Click the link to avoid service interruption.“</a:t>
            </a:r>
          </a:p>
          <a:p>
            <a:pPr marL="0" indent="0">
              <a:buNone/>
            </a:pPr>
            <a:r>
              <a:rPr lang="en-IN" dirty="0"/>
              <a:t>The link takes you to a fake login page.</a:t>
            </a:r>
          </a:p>
          <a:p>
            <a:pPr marL="0" indent="0">
              <a:buNone/>
            </a:pPr>
            <a:r>
              <a:rPr lang="en-IN" b="1" dirty="0"/>
              <a:t>Warning signs: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Unexpected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Urgent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Suspicious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Request for login information</a:t>
            </a:r>
          </a:p>
          <a:p>
            <a:pPr marL="0" indent="0">
              <a:buNone/>
            </a:pPr>
            <a:r>
              <a:rPr lang="en-IN" b="1" dirty="0"/>
              <a:t>Safe action: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Don't click the link.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Open the bank's official app/website yourself.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Report or delete the suspicious message</a:t>
            </a:r>
          </a:p>
        </p:txBody>
      </p:sp>
    </p:spTree>
    <p:extLst>
      <p:ext uri="{BB962C8B-B14F-4D97-AF65-F5344CB8AC3E}">
        <p14:creationId xmlns:p14="http://schemas.microsoft.com/office/powerpoint/2010/main" val="120352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C9FB-1BFA-F256-58DA-6A1A23618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Stay Safe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8220-9FD2-AA5A-D8D1-441BD8B83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before clicking links or </a:t>
            </a:r>
            <a:r>
              <a:rPr lang="en-US" dirty="0" err="1"/>
              <a:t>attachments.Use</a:t>
            </a:r>
            <a:r>
              <a:rPr lang="en-US" dirty="0"/>
              <a:t> strong, unique passwords.</a:t>
            </a:r>
          </a:p>
          <a:p>
            <a:r>
              <a:rPr lang="en-US" dirty="0"/>
              <a:t>Enable Multi-Factor Authentication (MFA).</a:t>
            </a:r>
          </a:p>
          <a:p>
            <a:r>
              <a:rPr lang="en-US" dirty="0"/>
              <a:t>Keep your operating system and apps updated.</a:t>
            </a:r>
          </a:p>
          <a:p>
            <a:r>
              <a:rPr lang="en-US" dirty="0"/>
              <a:t>Verify unexpected requests through another trusted channel.</a:t>
            </a:r>
          </a:p>
          <a:p>
            <a:r>
              <a:rPr lang="en-US" dirty="0"/>
              <a:t>Never share passwords or OTPs.</a:t>
            </a:r>
          </a:p>
          <a:p>
            <a:r>
              <a:rPr lang="en-US" dirty="0"/>
              <a:t>Report suspicious messages to the appropriate organization.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467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54E2-DBBA-6BC8-D461-73C7C700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Interactive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18450-D75C-840F-5FD6-8EFD86AD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54" y="1184224"/>
            <a:ext cx="9675099" cy="50641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Q1. What is phishing?</a:t>
            </a:r>
          </a:p>
          <a:p>
            <a:pPr marL="0" indent="0">
              <a:buNone/>
            </a:pPr>
            <a:r>
              <a:rPr lang="en-US" dirty="0"/>
              <a:t> A. cyber attack</a:t>
            </a:r>
          </a:p>
          <a:p>
            <a:pPr marL="0" indent="0">
              <a:buNone/>
            </a:pPr>
            <a:r>
              <a:rPr lang="en-US" dirty="0"/>
              <a:t> B. A computer game</a:t>
            </a:r>
          </a:p>
          <a:p>
            <a:pPr marL="0" indent="0">
              <a:buNone/>
            </a:pPr>
            <a:r>
              <a:rPr lang="en-US" dirty="0"/>
              <a:t> C. A type of hardware</a:t>
            </a:r>
          </a:p>
          <a:p>
            <a:pPr marL="0" indent="0">
              <a:buNone/>
            </a:pPr>
            <a:r>
              <a:rPr lang="en-US" dirty="0"/>
              <a:t>Answer: A</a:t>
            </a:r>
          </a:p>
          <a:p>
            <a:pPr marL="0" indent="0">
              <a:buNone/>
            </a:pPr>
            <a:r>
              <a:rPr lang="en-US" dirty="0"/>
              <a:t>Q2. What should you do with a suspicious link?</a:t>
            </a:r>
          </a:p>
          <a:p>
            <a:pPr marL="457200" indent="-457200">
              <a:buAutoNum type="alphaUcPeriod"/>
            </a:pPr>
            <a:r>
              <a:rPr lang="en-US" dirty="0"/>
              <a:t>Click it immediately </a:t>
            </a:r>
          </a:p>
          <a:p>
            <a:pPr marL="457200" indent="-457200">
              <a:buAutoNum type="alphaUcPeriod"/>
            </a:pPr>
            <a:r>
              <a:rPr lang="en-US" dirty="0"/>
              <a:t>Verify it first </a:t>
            </a:r>
          </a:p>
          <a:p>
            <a:pPr marL="457200" indent="-457200">
              <a:buAutoNum type="alphaUcPeriod"/>
            </a:pPr>
            <a:r>
              <a:rPr lang="en-US" dirty="0"/>
              <a:t> Forward it to friends</a:t>
            </a:r>
          </a:p>
          <a:p>
            <a:pPr marL="0" indent="0">
              <a:buNone/>
            </a:pPr>
            <a:r>
              <a:rPr lang="en-US" dirty="0"/>
              <a:t>Answer: B</a:t>
            </a:r>
          </a:p>
          <a:p>
            <a:pPr marL="0" indent="0">
              <a:buNone/>
            </a:pPr>
            <a:r>
              <a:rPr lang="en-US" dirty="0"/>
              <a:t>Q3. Should you share your OTP with someone who calls you?</a:t>
            </a:r>
          </a:p>
          <a:p>
            <a:pPr marL="457200" indent="-457200">
              <a:buAutoNum type="alphaUcPeriod"/>
            </a:pPr>
            <a:r>
              <a:rPr lang="en-US" dirty="0"/>
              <a:t>Yes</a:t>
            </a:r>
          </a:p>
          <a:p>
            <a:pPr marL="457200" indent="-457200">
              <a:buAutoNum type="alphaUcPeriod"/>
            </a:pPr>
            <a:r>
              <a:rPr lang="en-US" dirty="0"/>
              <a:t> No</a:t>
            </a:r>
          </a:p>
          <a:p>
            <a:pPr marL="0" indent="0">
              <a:buNone/>
            </a:pPr>
            <a:r>
              <a:rPr lang="en-US" dirty="0"/>
              <a:t>Answer: 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28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279E-6A53-B313-71F1-039ED8FC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FB39-30C6-1EB0-8BC6-03FD683D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588958"/>
            <a:ext cx="9404722" cy="46594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Think Before You Click!</a:t>
            </a:r>
          </a:p>
          <a:p>
            <a:r>
              <a:rPr lang="en-US" dirty="0"/>
              <a:t>Be careful with unexpected messages.</a:t>
            </a:r>
          </a:p>
          <a:p>
            <a:r>
              <a:rPr lang="en-US" dirty="0"/>
              <a:t>Check links and sender details.</a:t>
            </a:r>
          </a:p>
          <a:p>
            <a:r>
              <a:rPr lang="en-US" dirty="0"/>
              <a:t>Never share passwords or OTPs.</a:t>
            </a:r>
          </a:p>
          <a:p>
            <a:r>
              <a:rPr lang="en-US" dirty="0"/>
              <a:t>Verify suspicious requests independently.</a:t>
            </a:r>
          </a:p>
          <a:p>
            <a:r>
              <a:rPr lang="en-US" dirty="0"/>
              <a:t>Use MFA and keep software updated.</a:t>
            </a:r>
          </a:p>
          <a:p>
            <a:r>
              <a:rPr lang="en-US" dirty="0"/>
              <a:t>Awareness is the first line of defense.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0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48DAF2-7283-F704-FED3-1BEDC73A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41780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154</TotalTime>
  <Words>777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Century Gothic</vt:lpstr>
      <vt:lpstr>Wingdings 3</vt:lpstr>
      <vt:lpstr>Ion</vt:lpstr>
      <vt:lpstr>Phishing awareness training</vt:lpstr>
      <vt:lpstr>WHAT IS PHISHING?</vt:lpstr>
      <vt:lpstr>Types of Phishing Attacks</vt:lpstr>
      <vt:lpstr>Social Engineering Tactics Used by Attackers</vt:lpstr>
      <vt:lpstr> How to Recognize Phishing Emails</vt:lpstr>
      <vt:lpstr>How to Recognize Phishing Emails</vt:lpstr>
      <vt:lpstr>How to Recognize Fake Websites</vt:lpstr>
      <vt:lpstr> Real-World Phishing Example</vt:lpstr>
      <vt:lpstr>How to Stay Safe</vt:lpstr>
      <vt:lpstr>Interactive quiz</vt:lpstr>
      <vt:lpstr>Conclusion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sargar</dc:creator>
  <cp:lastModifiedBy>vaishnavi sargar</cp:lastModifiedBy>
  <cp:revision>2</cp:revision>
  <dcterms:created xsi:type="dcterms:W3CDTF">2026-08-03T14:26:15Z</dcterms:created>
  <dcterms:modified xsi:type="dcterms:W3CDTF">2026-08-14T15:29:31Z</dcterms:modified>
</cp:coreProperties>
</file>